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2" d="100"/>
          <a:sy n="142" d="100"/>
        </p:scale>
        <p:origin x="120" y="4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415842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1097280"/>
            <a:ext cx="73152" cy="292608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85800" y="1097280"/>
            <a:ext cx="80467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Predicting Bank Customer Churn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85800" y="2103120"/>
            <a:ext cx="8046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Machine Learning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85800" y="2834640"/>
            <a:ext cx="8046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At-Risk Customers Before They Leave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85800" y="420624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A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Viraj Gandhi  |  BAX 453V  |  April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Question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8229600" cy="82296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960120"/>
            <a:ext cx="8138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customers are at risk of churning, and what distinguishes them from those who stay?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57200" y="20116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435608" y="2148840"/>
            <a:ext cx="457200" cy="4572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435608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94360" y="26974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customer characteristics are the strongest predictors of churn?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20116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4224528" y="2148840"/>
            <a:ext cx="457200" cy="4572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224528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383280" y="26974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accurately can we identify at-risk customers before they leave?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035040" y="2011680"/>
            <a:ext cx="2606040" cy="265176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7013448" y="2148840"/>
            <a:ext cx="457200" cy="457200"/>
          </a:xfrm>
          <a:prstGeom prst="ellipse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7013448" y="214884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172200" y="2697480"/>
            <a:ext cx="2331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13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probability threshold best balances catching churners vs. false alarms?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EDA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960120"/>
            <a:ext cx="19202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10,000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2560320" y="960120"/>
            <a:ext cx="19202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56032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20.4%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256032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 Rate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663440" y="960120"/>
            <a:ext cx="19202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66344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2,037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6344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766560" y="960120"/>
            <a:ext cx="1920240" cy="77724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766560" y="9601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6766560" y="137160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Used</a:t>
            </a:r>
            <a:endParaRPr lang="en-US" sz="10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920240"/>
          <a:ext cx="8229600" cy="3017520"/>
        </p:xfrm>
        <a:graphic>
          <a:graphicData uri="http://schemas.openxmlformats.org/drawingml/2006/table">
            <a:tbl>
              <a:tblPr/>
              <a:tblGrid>
                <a:gridCol w="17373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922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Feature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Finding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Strongest numeric predictor (r = +0.29) — older customers churn more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Positive correlation (r = +0.12) — high-balance customers churn more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Geography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significant (χ² = 301) — Germany churns disproportionately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IsActiveMember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Highly significant (χ² = 243) — inactive members churn at higher rates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(χ² = 113) — females churn more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CreditScore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correlation (r = −0.03) — retained but low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Tenure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correlation (r = −0.01) — retained but low signal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NumOfProducts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Weak correlation but non-linear pattern — retained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0175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HasCrCard / EstSalary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 — excluded from model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Modeling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960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Comparison (5-fold CV GridSearchCV)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8229600" cy="1280160"/>
        </p:xfrm>
        <a:graphic>
          <a:graphicData uri="http://schemas.openxmlformats.org/drawingml/2006/table">
            <a:tbl>
              <a:tblPr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CV 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AUC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 Tree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0.848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0.797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0.577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Forest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0.855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0.874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0.586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0.712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0.643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004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XGBoost ★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0.860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0.884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4" name="Text 2"/>
          <p:cNvSpPr/>
          <p:nvPr/>
        </p:nvSpPr>
        <p:spPr>
          <a:xfrm>
            <a:off x="457200" y="27432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0D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Tuning (XGBoost)</a:t>
            </a:r>
            <a:endParaRPr lang="en-US" sz="13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3108960"/>
          <a:ext cx="4114800" cy="100584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Threshold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4A90D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0.50 ★ Selected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0.80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2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0.62 (stricter)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0.63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dirty="0">
                          <a:solidFill>
                            <a:srgbClr val="1A234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8E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4846320" y="2743200"/>
            <a:ext cx="384048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4"/>
          <p:cNvSpPr/>
          <p:nvPr/>
        </p:nvSpPr>
        <p:spPr>
          <a:xfrm>
            <a:off x="4937760" y="27889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0.50?  FN cost &gt;&gt; FP cost</a:t>
            </a:r>
            <a:endParaRPr lang="en-US" sz="1100" dirty="0"/>
          </a:p>
        </p:txBody>
      </p:sp>
      <p:sp>
        <p:nvSpPr>
          <p:cNvPr id="6" name="Text 5"/>
          <p:cNvSpPr/>
          <p:nvPr/>
        </p:nvSpPr>
        <p:spPr>
          <a:xfrm>
            <a:off x="4937760" y="3154680"/>
            <a:ext cx="365760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a churner = lost customer + expensive re-acquisition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Flagging a stayer = low-cost retention offer, negligible downside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Action Plan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5156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64008" cy="1600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1612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94360" y="15270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High-Risk Customers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94360" y="18745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Customers with XGBoost churn probability &gt; 0.50 are flagged as high-risk — maximizing recall to catch as many churners as possible.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0" y="105156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4754880" y="1051560"/>
            <a:ext cx="64008" cy="1600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892040" y="11612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892040" y="15270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Prioritize Outreach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8745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highest-risk segment — older, inactive, high-balance customers in Germany.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88036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57200" y="2880360"/>
            <a:ext cx="64008" cy="1600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594360" y="29900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594360" y="3355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Targeted Retention Offers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94360" y="37033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Loyalty rewards for inactive members; premium relationship managers for high-balance accounts.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4754880" y="2880360"/>
            <a:ext cx="4023360" cy="1600200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F0"/>
            </a:solidFill>
            <a:prstDash val="solid"/>
          </a:ln>
          <a:effectLst>
            <a:outerShdw blurRad="101600" dist="254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754880" y="2880360"/>
            <a:ext cx="64008" cy="1600200"/>
          </a:xfrm>
          <a:prstGeom prst="rect">
            <a:avLst/>
          </a:prstGeom>
          <a:solidFill>
            <a:srgbClr val="4A90D9"/>
          </a:solidFill>
          <a:ln w="12700">
            <a:solidFill>
              <a:srgbClr val="4A90D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892040" y="2990088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4892040" y="3355848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92040" y="3703320"/>
            <a:ext cx="3749040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model into CRM pipelines for automated monthly scoring and ongoing monitoring.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Business Outcomes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26517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7200" y="102412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80%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57200" y="1783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Churners Identified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(Recall @ 0.50 threshold)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291840" y="1005840"/>
            <a:ext cx="26517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291840" y="102412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52%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3291840" y="1783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(~1 in 2 flagged are real risks)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6126480" y="1005840"/>
            <a:ext cx="2651760" cy="1417320"/>
          </a:xfrm>
          <a:prstGeom prst="rect">
            <a:avLst/>
          </a:prstGeom>
          <a:solidFill>
            <a:srgbClr val="1E2761"/>
          </a:solidFill>
          <a:ln w="12700">
            <a:solidFill>
              <a:srgbClr val="1E276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26480" y="1024128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3×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6126480" y="178308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Efficient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 random outreach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2606040"/>
            <a:ext cx="822960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Retaining even a fraction of ~2,000 annual churners (who hold high balances) directly protects revenue.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precision (52%) is acceptable — a false positive means a low-cost retention offer, not a lost customer.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Proactive, model-driven outreach replaces broad, inefficient retention campaigns.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1A23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re-scoring via CRM ensures the pipeline stays current as customer behavior evolves.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Next Steps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005840"/>
            <a:ext cx="4114800" cy="3017520"/>
          </a:xfrm>
          <a:prstGeom prst="rect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94360" y="1097280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94360" y="150876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XGBoost (AUC 0.884, F1 0.66) is the recommended model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of 0.50 selected — FN cost (missed churner) far outweighs FP cost (unnecessary offer)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Age, account activity, balance, and geography are the primary churn drivers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Proactive retention targeting model's flagged list is 3× more efficient than random outreach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754880" y="1005840"/>
            <a:ext cx="3931920" cy="3017520"/>
          </a:xfrm>
          <a:prstGeom prst="rect">
            <a:avLst/>
          </a:prstGeom>
          <a:solidFill>
            <a:srgbClr val="253580"/>
          </a:solidFill>
          <a:ln w="12700">
            <a:solidFill>
              <a:srgbClr val="25358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4892040" y="10972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8D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Limitations &amp; Next Steps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892040" y="1508760"/>
            <a:ext cx="365760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periodically — model trained on a static snapshot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cost-benefit analysis (offer cost vs. customer LTV)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Explore SHAP values for individual-level explainability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feature set with transaction history and tenure data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579</Words>
  <Application>Microsoft Office PowerPoint</Application>
  <PresentationFormat>On-screen Show (16:9)</PresentationFormat>
  <Paragraphs>128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Predicting Bank Customer Churn with Machine Learning</dc:title>
  <dc:subject>PptxGenJS Presentation</dc:subject>
  <dc:creator>PptxGenJS</dc:creator>
  <cp:lastModifiedBy>Viraj Gandhi</cp:lastModifiedBy>
  <cp:revision>3</cp:revision>
  <dcterms:created xsi:type="dcterms:W3CDTF">2026-04-29T03:42:40Z</dcterms:created>
  <dcterms:modified xsi:type="dcterms:W3CDTF">2026-04-29T03:44:53Z</dcterms:modified>
</cp:coreProperties>
</file>